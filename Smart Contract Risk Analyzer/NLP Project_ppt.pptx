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4"/>
  </p:sldMasterIdLst>
  <p:sldIdLst>
    <p:sldId id="257" r:id="rId5"/>
    <p:sldId id="269" r:id="rId6"/>
    <p:sldId id="270" r:id="rId7"/>
    <p:sldId id="271" r:id="rId8"/>
    <p:sldId id="272" r:id="rId9"/>
    <p:sldId id="273" r:id="rId10"/>
    <p:sldId id="274" r:id="rId11"/>
    <p:sldId id="27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898AA"/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2" d="100"/>
          <a:sy n="82" d="100"/>
        </p:scale>
        <p:origin x="67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4/16/2026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4/16/2026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4/16/2026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4/16/2026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4/16/2026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4/16/2026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4/16/2026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4/16/2026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4/16/2026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4/16/2026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4/16/2026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4/16/2026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FD68DA-43BA-4508-8DE2-BA9BB7B2F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94514" y="67114"/>
            <a:ext cx="7139031" cy="1493238"/>
          </a:xfrm>
        </p:spPr>
        <p:txBody>
          <a:bodyPr>
            <a:noAutofit/>
          </a:bodyPr>
          <a:lstStyle/>
          <a:p>
            <a:r>
              <a:rPr lang="en-US" sz="3600" dirty="0">
                <a:highlight>
                  <a:srgbClr val="C0C0C0"/>
                </a:highlight>
              </a:rPr>
              <a:t>An NLP-Based Smart Contract</a:t>
            </a:r>
            <a:br>
              <a:rPr lang="en-US" sz="3600" dirty="0">
                <a:highlight>
                  <a:srgbClr val="C0C0C0"/>
                </a:highlight>
              </a:rPr>
            </a:br>
            <a:r>
              <a:rPr lang="en-US" sz="3600" dirty="0">
                <a:highlight>
                  <a:srgbClr val="C0C0C0"/>
                </a:highlight>
              </a:rPr>
              <a:t> Risk Analysis Web Application</a:t>
            </a:r>
            <a:endParaRPr lang="en-US" sz="3600" dirty="0">
              <a:highlight>
                <a:srgbClr val="C0C0C0"/>
              </a:highligh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E9CFF2-3777-4FF4-A759-8491175B0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94514" y="2229139"/>
            <a:ext cx="6269347" cy="1998911"/>
          </a:xfrm>
        </p:spPr>
        <p:txBody>
          <a:bodyPr>
            <a:normAutofit fontScale="25000" lnSpcReduction="20000"/>
          </a:bodyPr>
          <a:lstStyle/>
          <a:p>
            <a:r>
              <a:rPr lang="en-US" sz="9600" dirty="0"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Team Members:</a:t>
            </a:r>
          </a:p>
          <a:p>
            <a:r>
              <a:rPr lang="en-US" sz="96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2403A52249-Bitla Bhavana</a:t>
            </a:r>
          </a:p>
          <a:p>
            <a:r>
              <a:rPr lang="en-US" sz="96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2403a52252-Challa Vyshnavi</a:t>
            </a:r>
          </a:p>
          <a:p>
            <a:r>
              <a:rPr lang="en-US" sz="96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2403a52255-Soora </a:t>
            </a:r>
            <a:r>
              <a:rPr lang="en-US" sz="9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naMITha</a:t>
            </a:r>
            <a:endParaRPr lang="en-US" sz="9600" dirty="0">
              <a:solidFill>
                <a:schemeClr val="tx1">
                  <a:lumMod val="85000"/>
                  <a:lumOff val="15000"/>
                </a:schemeClr>
              </a:solidFill>
              <a:latin typeface="Calibri bold" panose="020F0702030404030204" pitchFamily="34" charset="0"/>
              <a:ea typeface="Calibri bold" panose="020F0702030404030204" pitchFamily="34" charset="0"/>
              <a:cs typeface="Calibri bold" panose="020F0702030404030204" pitchFamily="34" charset="0"/>
            </a:endParaRPr>
          </a:p>
          <a:p>
            <a:endParaRPr lang="en-US" sz="2400" b="1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b="1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 descr="A picture containing building, sitting, bench, side&#10;&#10;Description automatically generated">
            <a:extLst>
              <a:ext uri="{FF2B5EF4-FFF2-40B4-BE49-F238E27FC236}">
                <a16:creationId xmlns:a16="http://schemas.microsoft.com/office/drawing/2014/main" id="{282CF6DD-7FE8-4063-9551-1B7BBCE92AB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"/>
            <a:ext cx="4635315" cy="6857999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27754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EB813-2D63-3802-6B67-90725CD06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55C5B5-0A1D-8FDF-311D-A337E1D173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Many users fail to identify hidden risks in emails and agreements such as:</a:t>
            </a:r>
          </a:p>
          <a:p>
            <a:r>
              <a:rPr lang="en-US" dirty="0"/>
              <a:t>Fraudulent payment requests </a:t>
            </a:r>
          </a:p>
          <a:p>
            <a:r>
              <a:rPr lang="en-US" dirty="0"/>
              <a:t>Fake job offers </a:t>
            </a:r>
          </a:p>
          <a:p>
            <a:r>
              <a:rPr lang="en-US" dirty="0"/>
              <a:t>OTP or sensitive data requests </a:t>
            </a:r>
          </a:p>
          <a:p>
            <a:r>
              <a:rPr lang="en-US" dirty="0"/>
              <a:t>Manual checking is difficult and time-consuming.</a:t>
            </a:r>
          </a:p>
          <a:p>
            <a:r>
              <a:rPr lang="en-US" dirty="0"/>
              <a:t>👉 </a:t>
            </a:r>
            <a:r>
              <a:rPr lang="en-US" b="1" dirty="0"/>
              <a:t>Solution:</a:t>
            </a:r>
            <a:br>
              <a:rPr lang="en-US" dirty="0"/>
            </a:br>
            <a:r>
              <a:rPr lang="en-US" dirty="0"/>
              <a:t>Develop an automated system to detect and analyze risk in text using NLP and ML.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668066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B32F7-F57F-BEA0-DBB8-2A2838ACB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Stakeholders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B32606-EC3E-9B83-1A5F-3B83BCCB0B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Employees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2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457200" lvl="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Tenants</a:t>
            </a:r>
          </a:p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altLang="en-US" sz="2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457200" lvl="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Job Seekers</a:t>
            </a:r>
          </a:p>
          <a:p>
            <a:pPr marL="457200" lvl="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endParaRPr lang="en-US" altLang="en-US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Small Business Owners</a:t>
            </a:r>
          </a:p>
          <a:p>
            <a:pPr marL="457200" lvl="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endParaRPr lang="en-US" altLang="en-US" sz="2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457200" lvl="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Legal Consultants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2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457200" lvl="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General Public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292281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1EE6F-40BD-C5F7-0DB2-F57B951AA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Dataset and Model 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8F0398-8D07-4C12-169B-8AB4218976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IN" b="1" dirty="0"/>
              <a:t>Dataset:</a:t>
            </a:r>
            <a:endParaRPr lang="en-IN" dirty="0"/>
          </a:p>
          <a:p>
            <a:r>
              <a:rPr lang="en-IN" dirty="0"/>
              <a:t>Custom dataset of emails and agreements </a:t>
            </a:r>
          </a:p>
          <a:p>
            <a:r>
              <a:rPr lang="en-IN" dirty="0"/>
              <a:t>Categorized into: </a:t>
            </a:r>
          </a:p>
          <a:p>
            <a:pPr lvl="1"/>
            <a:r>
              <a:rPr lang="en-IN" dirty="0"/>
              <a:t>Low Risk </a:t>
            </a:r>
          </a:p>
          <a:p>
            <a:pPr lvl="1"/>
            <a:r>
              <a:rPr lang="en-IN" dirty="0"/>
              <a:t>Moderate Risk </a:t>
            </a:r>
          </a:p>
          <a:p>
            <a:pPr lvl="1"/>
            <a:r>
              <a:rPr lang="en-IN" dirty="0"/>
              <a:t>High Risk </a:t>
            </a:r>
          </a:p>
          <a:p>
            <a:r>
              <a:rPr lang="en-IN" b="1" dirty="0"/>
              <a:t>Features Used:</a:t>
            </a:r>
            <a:endParaRPr lang="en-IN" dirty="0"/>
          </a:p>
          <a:p>
            <a:r>
              <a:rPr lang="en-IN" dirty="0"/>
              <a:t>Suspicious keywords (OTP, pay, fee, urgent) </a:t>
            </a:r>
          </a:p>
          <a:p>
            <a:r>
              <a:rPr lang="en-IN" dirty="0"/>
              <a:t>Patterns (₹ amounts, deadlines) </a:t>
            </a:r>
          </a:p>
          <a:p>
            <a:r>
              <a:rPr lang="en-IN" b="1" dirty="0"/>
              <a:t>Model:</a:t>
            </a:r>
            <a:endParaRPr lang="en-IN" dirty="0"/>
          </a:p>
          <a:p>
            <a:r>
              <a:rPr lang="en-IN" dirty="0"/>
              <a:t>TF-IDF Vectorization → Converts text into numerical features </a:t>
            </a:r>
          </a:p>
          <a:p>
            <a:r>
              <a:rPr lang="en-IN" dirty="0"/>
              <a:t>Logistic Regression → Classifies risk level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547493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F649A-FC19-0260-AED5-252C14E0D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2EEEE-82FD-4592-22A1-5F57C5349D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system provides:</a:t>
            </a:r>
          </a:p>
          <a:p>
            <a:r>
              <a:rPr lang="en-US" dirty="0"/>
              <a:t>📊 Risk Score (in percentage) </a:t>
            </a:r>
          </a:p>
          <a:p>
            <a:r>
              <a:rPr lang="en-US" dirty="0"/>
              <a:t>🔴 Highlighted suspicious words </a:t>
            </a:r>
          </a:p>
          <a:p>
            <a:r>
              <a:rPr lang="en-US" dirty="0"/>
              <a:t>🤖 Risk Prediction: </a:t>
            </a:r>
          </a:p>
          <a:p>
            <a:pPr lvl="1"/>
            <a:r>
              <a:rPr lang="en-US" dirty="0"/>
              <a:t>Low Risk </a:t>
            </a:r>
          </a:p>
          <a:p>
            <a:pPr lvl="1"/>
            <a:r>
              <a:rPr lang="en-US" dirty="0"/>
              <a:t>Moderate Risk </a:t>
            </a:r>
          </a:p>
          <a:p>
            <a:pPr lvl="1"/>
            <a:r>
              <a:rPr lang="en-US" dirty="0"/>
              <a:t>High Risk </a:t>
            </a:r>
          </a:p>
          <a:p>
            <a:r>
              <a:rPr lang="en-US" dirty="0"/>
              <a:t>👉 Accurate detection of scam-like patterns in text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222386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A0D4C-FF43-FB92-D665-D85D393DF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Application (Cloud Hosted)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7B53C2-0C3A-1321-F203-41C7B89AA5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Web-based application built using Flask </a:t>
            </a:r>
          </a:p>
          <a:p>
            <a:r>
              <a:rPr lang="en-IN" dirty="0"/>
              <a:t>Accepts: </a:t>
            </a:r>
          </a:p>
          <a:p>
            <a:pPr lvl="1"/>
            <a:r>
              <a:rPr lang="en-IN" dirty="0"/>
              <a:t>Text input </a:t>
            </a:r>
          </a:p>
          <a:p>
            <a:pPr lvl="1"/>
            <a:r>
              <a:rPr lang="en-IN" dirty="0"/>
              <a:t>PDF files </a:t>
            </a:r>
          </a:p>
          <a:p>
            <a:pPr lvl="1"/>
            <a:r>
              <a:rPr lang="en-IN" dirty="0"/>
              <a:t>Image input (OCR) </a:t>
            </a:r>
          </a:p>
          <a:p>
            <a:r>
              <a:rPr lang="en-IN" dirty="0"/>
              <a:t>Can be deployed on cloud platforms like: </a:t>
            </a:r>
          </a:p>
          <a:p>
            <a:pPr lvl="1"/>
            <a:r>
              <a:rPr lang="en-IN" dirty="0"/>
              <a:t>AWS </a:t>
            </a:r>
          </a:p>
          <a:p>
            <a:pPr lvl="1"/>
            <a:r>
              <a:rPr lang="en-IN" dirty="0"/>
              <a:t>Heroku </a:t>
            </a:r>
          </a:p>
          <a:p>
            <a:pPr lvl="1"/>
            <a:r>
              <a:rPr lang="en-IN" dirty="0"/>
              <a:t>Render </a:t>
            </a:r>
          </a:p>
          <a:p>
            <a:r>
              <a:rPr lang="en-IN" dirty="0"/>
              <a:t>👉 Accessible from anywhere via browser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129407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881A8-29D1-8D66-E106-0801A23E9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80F610-8705-FBA5-AA7C-735701ADA7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Successfully detects risky content in emails and agreements </a:t>
            </a:r>
          </a:p>
          <a:p>
            <a:r>
              <a:rPr lang="en-US" dirty="0"/>
              <a:t>Helps users avoid scams and fraud </a:t>
            </a:r>
          </a:p>
          <a:p>
            <a:r>
              <a:rPr lang="en-US" dirty="0"/>
              <a:t>Uses NLP and ML effectively for text analysis </a:t>
            </a:r>
          </a:p>
          <a:p>
            <a:r>
              <a:rPr lang="en-US" dirty="0"/>
              <a:t>👉 Future Work:</a:t>
            </a:r>
          </a:p>
          <a:p>
            <a:r>
              <a:rPr lang="en-US" dirty="0"/>
              <a:t>Improve accuracy using deep learning </a:t>
            </a:r>
          </a:p>
          <a:p>
            <a:r>
              <a:rPr lang="en-US" dirty="0"/>
              <a:t>Add multilingual support </a:t>
            </a:r>
          </a:p>
          <a:p>
            <a:r>
              <a:rPr lang="en-US" dirty="0"/>
              <a:t>Expand dataset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484465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3CE1E-8843-C8F4-B3A2-6BA75D19F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99F4A6-61DB-E5EC-E8BD-05C45BBF6B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NLTK Documentation </a:t>
            </a:r>
            <a:br>
              <a:rPr lang="en-IN" dirty="0"/>
            </a:br>
            <a:endParaRPr lang="en-IN" dirty="0"/>
          </a:p>
          <a:p>
            <a:r>
              <a:rPr lang="en-IN" dirty="0"/>
              <a:t>Scikit-learn Documentation</a:t>
            </a:r>
            <a:br>
              <a:rPr lang="en-IN" dirty="0"/>
            </a:br>
            <a:r>
              <a:rPr lang="en-IN" dirty="0"/>
              <a:t> </a:t>
            </a:r>
          </a:p>
          <a:p>
            <a:r>
              <a:rPr lang="en-IN" dirty="0"/>
              <a:t>Flask Documentation</a:t>
            </a:r>
            <a:br>
              <a:rPr lang="en-IN" dirty="0"/>
            </a:br>
            <a:r>
              <a:rPr lang="en-IN" dirty="0"/>
              <a:t> </a:t>
            </a:r>
          </a:p>
          <a:p>
            <a:r>
              <a:rPr lang="en-IN" dirty="0"/>
              <a:t>PyPDF2 Library</a:t>
            </a:r>
            <a:br>
              <a:rPr lang="en-IN" dirty="0"/>
            </a:br>
            <a:r>
              <a:rPr lang="en-IN" dirty="0"/>
              <a:t> </a:t>
            </a:r>
          </a:p>
          <a:p>
            <a:r>
              <a:rPr lang="en-IN" dirty="0"/>
              <a:t>Tesseract OCR Documentation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4026654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WO.pptx" id="{80AA9D2D-EE59-4148-A11E-A51EEE828B28}" vid="{AEAFD717-D3C8-4034-8F7E-D5220B0CCEB8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C5A59D56-2157-4202-9D02-F44E447A241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9DAD249-BF80-48EF-9AFB-36A11BCDC2C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F4F4D41-822D-40F2-A7AC-E4E6CB36CA7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{293B533B-55D2-43C5-9DD0-220DC046FE28}TFf0a5ceae-4542-492d-822e-d65a94fb0e1e3b562c5a_win32-009a0557e699</Template>
  <TotalTime>240</TotalTime>
  <Words>271</Words>
  <Application>Microsoft Office PowerPoint</Application>
  <PresentationFormat>Widescreen</PresentationFormat>
  <Paragraphs>71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Bookman Old Style</vt:lpstr>
      <vt:lpstr>Calibri</vt:lpstr>
      <vt:lpstr>Calibri bold</vt:lpstr>
      <vt:lpstr>Franklin Gothic Book</vt:lpstr>
      <vt:lpstr>Wingdings</vt:lpstr>
      <vt:lpstr>Custom</vt:lpstr>
      <vt:lpstr>An NLP-Based Smart Contract  Risk Analysis Web Application</vt:lpstr>
      <vt:lpstr>Problem Statement</vt:lpstr>
      <vt:lpstr>Stakeholders</vt:lpstr>
      <vt:lpstr>Dataset and Model Discussion</vt:lpstr>
      <vt:lpstr>Results</vt:lpstr>
      <vt:lpstr>Application (Cloud Hosted)</vt:lpstr>
      <vt:lpstr>Conclusions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NLP-Based SmartContract  Risk Analysis Web Application</dc:title>
  <dc:creator>Vyshnavi Reddy Challa</dc:creator>
  <cp:lastModifiedBy>Bhavana Bitla</cp:lastModifiedBy>
  <cp:revision>18</cp:revision>
  <dcterms:created xsi:type="dcterms:W3CDTF">2026-02-14T14:32:28Z</dcterms:created>
  <dcterms:modified xsi:type="dcterms:W3CDTF">2026-04-16T03:45:49Z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